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8f3a488-eee8-b643-9608-56e28ce85bdf}">
          <p14:sldIdLst>
            <p14:sldId id="256"/>
            <p14:sldId id="257"/>
            <p14:sldId id="258"/>
          </p14:sldIdLst>
        </p14:section>
        <p14:section name="Findings" id="{9f8deb67-97b3-3ae3-063f-fcd59d9b6823}">
          <p14:sldIdLst>
            <p14:sldId id="259"/>
            <p14:sldId id="260"/>
            <p14:sldId id="261"/>
            <p14:sldId id="262"/>
            <p14:sldId id="263"/>
          </p14:sldIdLst>
        </p14:section>
        <p14:section name="Recommendations" id="{45dc6f88-8ae7-7ed3-9b18-570353e218ed}">
          <p14:sldIdLst>
            <p14:sldId id="264"/>
          </p14:sldIdLst>
        </p14:section>
        <p14:section name="Close" id="{b4365b36-907b-6772-5227-15f2ce888874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F6B7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F6B7A"/>
                </a:solidFill>
                <a:latin typeface="+mn-lt"/>
              </a:rPr>
              <a:t>Total giving by year and donor cohort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 cohort</c:v>
                </c:pt>
              </c:strCache>
            </c:strRef>
          </c:tx>
          <c:spPr>
            <a:solidFill>
              <a:srgbClr val="9DC3E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356625</c:v>
                </c:pt>
                <c:pt idx="1">
                  <c:v>216895</c:v>
                </c:pt>
                <c:pt idx="2">
                  <c:v>171580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 cohort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337650</c:v>
                </c:pt>
                <c:pt idx="2">
                  <c:v>266350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 cohort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267305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F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F6B7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F6B7A"/>
                </a:solidFill>
                <a:latin typeface="+mn-lt"/>
              </a:rPr>
              <a:t>Cumulative share of lapsed giving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share of lapsed giving</c:v>
                </c:pt>
              </c:strCache>
            </c:strRef>
          </c:tx>
          <c:spPr>
            <a:solidFill>
              <a:srgbClr val="2E75B6"/>
            </a:solidFill>
            <a:ln w="3810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Sheet1!$A$2:$A$58</c:f>
              <c:multiLvlStrCache>
                <c:ptCount val="57"/>
                <c:lvl>
                  <c:pt idx="0">
                    <c:v>0</c:v>
                  </c:pt>
                  <c:pt idx="1">
                    <c:v>25</c:v>
                  </c:pt>
                  <c:pt idx="2">
                    <c:v>50</c:v>
                  </c:pt>
                  <c:pt idx="3">
                    <c:v>75</c:v>
                  </c:pt>
                  <c:pt idx="4">
                    <c:v>100</c:v>
                  </c:pt>
                  <c:pt idx="5">
                    <c:v>125</c:v>
                  </c:pt>
                  <c:pt idx="6">
                    <c:v>150</c:v>
                  </c:pt>
                  <c:pt idx="7">
                    <c:v>175</c:v>
                  </c:pt>
                  <c:pt idx="8">
                    <c:v>200</c:v>
                  </c:pt>
                  <c:pt idx="9">
                    <c:v>225</c:v>
                  </c:pt>
                  <c:pt idx="10">
                    <c:v>250</c:v>
                  </c:pt>
                  <c:pt idx="11">
                    <c:v>275</c:v>
                  </c:pt>
                  <c:pt idx="12">
                    <c:v>300</c:v>
                  </c:pt>
                  <c:pt idx="13">
                    <c:v>325</c:v>
                  </c:pt>
                  <c:pt idx="14">
                    <c:v>350</c:v>
                  </c:pt>
                  <c:pt idx="15">
                    <c:v>375</c:v>
                  </c:pt>
                  <c:pt idx="16">
                    <c:v>400</c:v>
                  </c:pt>
                  <c:pt idx="17">
                    <c:v>425</c:v>
                  </c:pt>
                  <c:pt idx="18">
                    <c:v>450</c:v>
                  </c:pt>
                  <c:pt idx="19">
                    <c:v>475</c:v>
                  </c:pt>
                  <c:pt idx="20">
                    <c:v>500</c:v>
                  </c:pt>
                  <c:pt idx="21">
                    <c:v>525</c:v>
                  </c:pt>
                  <c:pt idx="22">
                    <c:v>550</c:v>
                  </c:pt>
                  <c:pt idx="23">
                    <c:v>575</c:v>
                  </c:pt>
                  <c:pt idx="24">
                    <c:v>600</c:v>
                  </c:pt>
                  <c:pt idx="25">
                    <c:v>625</c:v>
                  </c:pt>
                  <c:pt idx="26">
                    <c:v>650</c:v>
                  </c:pt>
                  <c:pt idx="27">
                    <c:v>675</c:v>
                  </c:pt>
                  <c:pt idx="28">
                    <c:v>700</c:v>
                  </c:pt>
                  <c:pt idx="29">
                    <c:v>725</c:v>
                  </c:pt>
                  <c:pt idx="30">
                    <c:v>750</c:v>
                  </c:pt>
                  <c:pt idx="31">
                    <c:v>775</c:v>
                  </c:pt>
                  <c:pt idx="32">
                    <c:v>800</c:v>
                  </c:pt>
                  <c:pt idx="33">
                    <c:v>825</c:v>
                  </c:pt>
                  <c:pt idx="34">
                    <c:v>850</c:v>
                  </c:pt>
                  <c:pt idx="35">
                    <c:v>875</c:v>
                  </c:pt>
                  <c:pt idx="36">
                    <c:v>900</c:v>
                  </c:pt>
                  <c:pt idx="37">
                    <c:v>925</c:v>
                  </c:pt>
                  <c:pt idx="38">
                    <c:v>950</c:v>
                  </c:pt>
                  <c:pt idx="39">
                    <c:v>975</c:v>
                  </c:pt>
                  <c:pt idx="40">
                    <c:v>1000</c:v>
                  </c:pt>
                  <c:pt idx="41">
                    <c:v>1025</c:v>
                  </c:pt>
                  <c:pt idx="42">
                    <c:v>1050</c:v>
                  </c:pt>
                  <c:pt idx="43">
                    <c:v>1075</c:v>
                  </c:pt>
                  <c:pt idx="44">
                    <c:v>1100</c:v>
                  </c:pt>
                  <c:pt idx="45">
                    <c:v>1125</c:v>
                  </c:pt>
                  <c:pt idx="46">
                    <c:v>1150</c:v>
                  </c:pt>
                  <c:pt idx="47">
                    <c:v>1175</c:v>
                  </c:pt>
                  <c:pt idx="48">
                    <c:v>1200</c:v>
                  </c:pt>
                  <c:pt idx="49">
                    <c:v>1225</c:v>
                  </c:pt>
                  <c:pt idx="50">
                    <c:v>1250</c:v>
                  </c:pt>
                  <c:pt idx="51">
                    <c:v>1275</c:v>
                  </c:pt>
                  <c:pt idx="52">
                    <c:v>1300</c:v>
                  </c:pt>
                  <c:pt idx="53">
                    <c:v>1325</c:v>
                  </c:pt>
                  <c:pt idx="54">
                    <c:v>1350</c:v>
                  </c:pt>
                  <c:pt idx="55">
                    <c:v>1375</c:v>
                  </c:pt>
                  <c:pt idx="56">
                    <c:v>1400</c:v>
                  </c:pt>
                </c:lvl>
              </c:multiLvlStrCache>
            </c:multiLvlStrRef>
          </c:cat>
          <c:val>
            <c:numRef>
              <c:f>Sheet1!$B$2:$B$58</c:f>
              <c:numCache>
                <c:formatCode>General</c:formatCode>
                <c:ptCount val="57"/>
                <c:pt idx="0">
                  <c:v>0</c:v>
                </c:pt>
                <c:pt idx="1">
                  <c:v>37.2</c:v>
                </c:pt>
                <c:pt idx="2">
                  <c:v>44.7</c:v>
                </c:pt>
                <c:pt idx="3">
                  <c:v>49.7</c:v>
                </c:pt>
                <c:pt idx="4">
                  <c:v>53.7</c:v>
                </c:pt>
                <c:pt idx="5">
                  <c:v>57</c:v>
                </c:pt>
                <c:pt idx="6">
                  <c:v>59.9</c:v>
                </c:pt>
                <c:pt idx="7">
                  <c:v>62.4</c:v>
                </c:pt>
                <c:pt idx="8">
                  <c:v>64.8</c:v>
                </c:pt>
                <c:pt idx="9">
                  <c:v>66.9</c:v>
                </c:pt>
                <c:pt idx="10">
                  <c:v>68.9</c:v>
                </c:pt>
                <c:pt idx="11">
                  <c:v>70.7</c:v>
                </c:pt>
                <c:pt idx="12">
                  <c:v>72.4</c:v>
                </c:pt>
                <c:pt idx="13">
                  <c:v>73.9</c:v>
                </c:pt>
                <c:pt idx="14">
                  <c:v>75.4</c:v>
                </c:pt>
                <c:pt idx="15">
                  <c:v>76.7</c:v>
                </c:pt>
                <c:pt idx="16">
                  <c:v>78</c:v>
                </c:pt>
                <c:pt idx="17">
                  <c:v>79.3</c:v>
                </c:pt>
                <c:pt idx="18">
                  <c:v>80.4</c:v>
                </c:pt>
                <c:pt idx="19">
                  <c:v>81.5</c:v>
                </c:pt>
                <c:pt idx="20">
                  <c:v>82.6</c:v>
                </c:pt>
                <c:pt idx="21">
                  <c:v>83.5</c:v>
                </c:pt>
                <c:pt idx="22">
                  <c:v>84.5</c:v>
                </c:pt>
                <c:pt idx="23">
                  <c:v>85.4</c:v>
                </c:pt>
                <c:pt idx="24">
                  <c:v>86.2</c:v>
                </c:pt>
                <c:pt idx="25">
                  <c:v>87</c:v>
                </c:pt>
                <c:pt idx="26">
                  <c:v>87.7</c:v>
                </c:pt>
                <c:pt idx="27">
                  <c:v>88.5</c:v>
                </c:pt>
                <c:pt idx="28">
                  <c:v>89.2</c:v>
                </c:pt>
                <c:pt idx="29">
                  <c:v>89.8</c:v>
                </c:pt>
                <c:pt idx="30">
                  <c:v>90.4</c:v>
                </c:pt>
                <c:pt idx="31">
                  <c:v>91</c:v>
                </c:pt>
                <c:pt idx="32">
                  <c:v>91.6</c:v>
                </c:pt>
                <c:pt idx="33">
                  <c:v>92.2</c:v>
                </c:pt>
                <c:pt idx="34">
                  <c:v>92.7</c:v>
                </c:pt>
                <c:pt idx="35">
                  <c:v>93.2</c:v>
                </c:pt>
                <c:pt idx="36">
                  <c:v>93.7</c:v>
                </c:pt>
                <c:pt idx="37">
                  <c:v>94.2</c:v>
                </c:pt>
                <c:pt idx="38">
                  <c:v>94.6</c:v>
                </c:pt>
                <c:pt idx="39">
                  <c:v>95</c:v>
                </c:pt>
                <c:pt idx="40">
                  <c:v>95.4</c:v>
                </c:pt>
                <c:pt idx="41">
                  <c:v>95.9</c:v>
                </c:pt>
                <c:pt idx="42">
                  <c:v>96.3</c:v>
                </c:pt>
                <c:pt idx="43">
                  <c:v>96.6</c:v>
                </c:pt>
                <c:pt idx="44">
                  <c:v>97</c:v>
                </c:pt>
                <c:pt idx="45">
                  <c:v>97.3</c:v>
                </c:pt>
                <c:pt idx="46">
                  <c:v>97.7</c:v>
                </c:pt>
                <c:pt idx="47">
                  <c:v>98</c:v>
                </c:pt>
                <c:pt idx="48">
                  <c:v>98.3</c:v>
                </c:pt>
                <c:pt idx="49">
                  <c:v>98.6</c:v>
                </c:pt>
                <c:pt idx="50">
                  <c:v>98.8</c:v>
                </c:pt>
                <c:pt idx="51">
                  <c:v>99.1</c:v>
                </c:pt>
                <c:pt idx="52">
                  <c:v>99.3</c:v>
                </c:pt>
                <c:pt idx="53">
                  <c:v>99.5</c:v>
                </c:pt>
                <c:pt idx="54">
                  <c:v>99.7</c:v>
                </c:pt>
                <c:pt idx="55">
                  <c:v>99.9</c:v>
                </c:pt>
                <c:pt idx="56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50% of lapsed giving</c:v>
                </c:pt>
              </c:strCache>
            </c:strRef>
          </c:tx>
          <c:spPr>
            <a:solidFill>
              <a:srgbClr val="E8A33D"/>
            </a:solidFill>
            <a:ln w="381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Sheet1!$A$2:$A$58</c:f>
              <c:multiLvlStrCache>
                <c:ptCount val="57"/>
                <c:lvl>
                  <c:pt idx="0">
                    <c:v>0</c:v>
                  </c:pt>
                  <c:pt idx="1">
                    <c:v>25</c:v>
                  </c:pt>
                  <c:pt idx="2">
                    <c:v>50</c:v>
                  </c:pt>
                  <c:pt idx="3">
                    <c:v>75</c:v>
                  </c:pt>
                  <c:pt idx="4">
                    <c:v>100</c:v>
                  </c:pt>
                  <c:pt idx="5">
                    <c:v>125</c:v>
                  </c:pt>
                  <c:pt idx="6">
                    <c:v>150</c:v>
                  </c:pt>
                  <c:pt idx="7">
                    <c:v>175</c:v>
                  </c:pt>
                  <c:pt idx="8">
                    <c:v>200</c:v>
                  </c:pt>
                  <c:pt idx="9">
                    <c:v>225</c:v>
                  </c:pt>
                  <c:pt idx="10">
                    <c:v>250</c:v>
                  </c:pt>
                  <c:pt idx="11">
                    <c:v>275</c:v>
                  </c:pt>
                  <c:pt idx="12">
                    <c:v>300</c:v>
                  </c:pt>
                  <c:pt idx="13">
                    <c:v>325</c:v>
                  </c:pt>
                  <c:pt idx="14">
                    <c:v>350</c:v>
                  </c:pt>
                  <c:pt idx="15">
                    <c:v>375</c:v>
                  </c:pt>
                  <c:pt idx="16">
                    <c:v>400</c:v>
                  </c:pt>
                  <c:pt idx="17">
                    <c:v>425</c:v>
                  </c:pt>
                  <c:pt idx="18">
                    <c:v>450</c:v>
                  </c:pt>
                  <c:pt idx="19">
                    <c:v>475</c:v>
                  </c:pt>
                  <c:pt idx="20">
                    <c:v>500</c:v>
                  </c:pt>
                  <c:pt idx="21">
                    <c:v>525</c:v>
                  </c:pt>
                  <c:pt idx="22">
                    <c:v>550</c:v>
                  </c:pt>
                  <c:pt idx="23">
                    <c:v>575</c:v>
                  </c:pt>
                  <c:pt idx="24">
                    <c:v>600</c:v>
                  </c:pt>
                  <c:pt idx="25">
                    <c:v>625</c:v>
                  </c:pt>
                  <c:pt idx="26">
                    <c:v>650</c:v>
                  </c:pt>
                  <c:pt idx="27">
                    <c:v>675</c:v>
                  </c:pt>
                  <c:pt idx="28">
                    <c:v>700</c:v>
                  </c:pt>
                  <c:pt idx="29">
                    <c:v>725</c:v>
                  </c:pt>
                  <c:pt idx="30">
                    <c:v>750</c:v>
                  </c:pt>
                  <c:pt idx="31">
                    <c:v>775</c:v>
                  </c:pt>
                  <c:pt idx="32">
                    <c:v>800</c:v>
                  </c:pt>
                  <c:pt idx="33">
                    <c:v>825</c:v>
                  </c:pt>
                  <c:pt idx="34">
                    <c:v>850</c:v>
                  </c:pt>
                  <c:pt idx="35">
                    <c:v>875</c:v>
                  </c:pt>
                  <c:pt idx="36">
                    <c:v>900</c:v>
                  </c:pt>
                  <c:pt idx="37">
                    <c:v>925</c:v>
                  </c:pt>
                  <c:pt idx="38">
                    <c:v>950</c:v>
                  </c:pt>
                  <c:pt idx="39">
                    <c:v>975</c:v>
                  </c:pt>
                  <c:pt idx="40">
                    <c:v>1000</c:v>
                  </c:pt>
                  <c:pt idx="41">
                    <c:v>1025</c:v>
                  </c:pt>
                  <c:pt idx="42">
                    <c:v>1050</c:v>
                  </c:pt>
                  <c:pt idx="43">
                    <c:v>1075</c:v>
                  </c:pt>
                  <c:pt idx="44">
                    <c:v>1100</c:v>
                  </c:pt>
                  <c:pt idx="45">
                    <c:v>1125</c:v>
                  </c:pt>
                  <c:pt idx="46">
                    <c:v>1150</c:v>
                  </c:pt>
                  <c:pt idx="47">
                    <c:v>1175</c:v>
                  </c:pt>
                  <c:pt idx="48">
                    <c:v>1200</c:v>
                  </c:pt>
                  <c:pt idx="49">
                    <c:v>1225</c:v>
                  </c:pt>
                  <c:pt idx="50">
                    <c:v>1250</c:v>
                  </c:pt>
                  <c:pt idx="51">
                    <c:v>1275</c:v>
                  </c:pt>
                  <c:pt idx="52">
                    <c:v>1300</c:v>
                  </c:pt>
                  <c:pt idx="53">
                    <c:v>1325</c:v>
                  </c:pt>
                  <c:pt idx="54">
                    <c:v>1350</c:v>
                  </c:pt>
                  <c:pt idx="55">
                    <c:v>1375</c:v>
                  </c:pt>
                  <c:pt idx="56">
                    <c:v>1400</c:v>
                  </c:pt>
                </c:lvl>
              </c:multiLvlStrCache>
            </c:multiLvlStrRef>
          </c:cat>
          <c:val>
            <c:numRef>
              <c:f>Sheet1!$C$2:$C$58</c:f>
              <c:numCache>
                <c:formatCode>General</c:formatCode>
                <c:ptCount val="57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  <c:pt idx="22">
                  <c:v>50</c:v>
                </c:pt>
                <c:pt idx="23">
                  <c:v>50</c:v>
                </c:pt>
                <c:pt idx="24">
                  <c:v>50</c:v>
                </c:pt>
                <c:pt idx="25">
                  <c:v>50</c:v>
                </c:pt>
                <c:pt idx="26">
                  <c:v>50</c:v>
                </c:pt>
                <c:pt idx="27">
                  <c:v>50</c:v>
                </c:pt>
                <c:pt idx="28">
                  <c:v>50</c:v>
                </c:pt>
                <c:pt idx="29">
                  <c:v>50</c:v>
                </c:pt>
                <c:pt idx="30">
                  <c:v>50</c:v>
                </c:pt>
                <c:pt idx="31">
                  <c:v>50</c:v>
                </c:pt>
                <c:pt idx="32">
                  <c:v>50</c:v>
                </c:pt>
                <c:pt idx="33">
                  <c:v>50</c:v>
                </c:pt>
                <c:pt idx="34">
                  <c:v>50</c:v>
                </c:pt>
                <c:pt idx="35">
                  <c:v>50</c:v>
                </c:pt>
                <c:pt idx="36">
                  <c:v>50</c:v>
                </c:pt>
                <c:pt idx="37">
                  <c:v>50</c:v>
                </c:pt>
                <c:pt idx="38">
                  <c:v>50</c:v>
                </c:pt>
                <c:pt idx="39">
                  <c:v>50</c:v>
                </c:pt>
                <c:pt idx="40">
                  <c:v>50</c:v>
                </c:pt>
                <c:pt idx="41">
                  <c:v>50</c:v>
                </c:pt>
                <c:pt idx="42">
                  <c:v>50</c:v>
                </c:pt>
                <c:pt idx="43">
                  <c:v>50</c:v>
                </c:pt>
                <c:pt idx="44">
                  <c:v>50</c:v>
                </c:pt>
                <c:pt idx="45">
                  <c:v>50</c:v>
                </c:pt>
                <c:pt idx="46">
                  <c:v>50</c:v>
                </c:pt>
                <c:pt idx="47">
                  <c:v>50</c:v>
                </c:pt>
                <c:pt idx="48">
                  <c:v>50</c:v>
                </c:pt>
                <c:pt idx="49">
                  <c:v>50</c:v>
                </c:pt>
                <c:pt idx="50">
                  <c:v>50</c:v>
                </c:pt>
                <c:pt idx="51">
                  <c:v>50</c:v>
                </c:pt>
                <c:pt idx="52">
                  <c:v>50</c:v>
                </c:pt>
                <c:pt idx="53">
                  <c:v>50</c:v>
                </c:pt>
                <c:pt idx="54">
                  <c:v>50</c:v>
                </c:pt>
                <c:pt idx="55">
                  <c:v>50</c:v>
                </c:pt>
                <c:pt idx="56">
                  <c:v>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F6B7A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F6B7A"/>
                    </a:solidFill>
                    <a:latin typeface="+mn-lt"/>
                  </a:rPr>
                  <a:t>Lapsed donors, ranked by lifetime giving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8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F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F6B7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F6B7A"/>
                </a:solidFill>
                <a:latin typeface="+mn-lt"/>
              </a:rPr>
              <a:t>Total giving by calendar month, 2023 to 2025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giving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97370</c:v>
                </c:pt>
                <c:pt idx="1">
                  <c:v>88915</c:v>
                </c:pt>
                <c:pt idx="2">
                  <c:v>103450</c:v>
                </c:pt>
                <c:pt idx="3">
                  <c:v>107905</c:v>
                </c:pt>
                <c:pt idx="4">
                  <c:v>117400</c:v>
                </c:pt>
                <c:pt idx="5">
                  <c:v>136485</c:v>
                </c:pt>
                <c:pt idx="6">
                  <c:v>83585</c:v>
                </c:pt>
                <c:pt idx="7">
                  <c:v>100720</c:v>
                </c:pt>
                <c:pt idx="8">
                  <c:v>107990</c:v>
                </c:pt>
                <c:pt idx="9">
                  <c:v>110815</c:v>
                </c:pt>
                <c:pt idx="10">
                  <c:v>164665</c:v>
                </c:pt>
                <c:pt idx="11">
                  <c:v>397105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F6B7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F6B7A"/>
                </a:solidFill>
                <a:latin typeface="+mn-lt"/>
              </a:rPr>
              <a:t>Actual lapse rate by predicted risk decile (1 = highest risk)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lapse rate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92.9</c:v>
                </c:pt>
                <c:pt idx="1">
                  <c:v>92.9</c:v>
                </c:pt>
                <c:pt idx="2">
                  <c:v>94.6</c:v>
                </c:pt>
                <c:pt idx="3">
                  <c:v>76.4</c:v>
                </c:pt>
                <c:pt idx="4">
                  <c:v>64.3</c:v>
                </c:pt>
                <c:pt idx="5">
                  <c:v>69.6</c:v>
                </c:pt>
                <c:pt idx="6">
                  <c:v>47.3</c:v>
                </c:pt>
                <c:pt idx="7">
                  <c:v>41.1</c:v>
                </c:pt>
                <c:pt idx="8">
                  <c:v>35.7</c:v>
                </c:pt>
                <c:pt idx="9">
                  <c:v>16.1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F6B7A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F6B7A"/>
                    </a:solidFill>
                    <a:latin typeface="+mn-lt"/>
                  </a:rPr>
                  <a:t>Risk decile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Simulated data, for learning and portfolio use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Simulated data, for learning and portfolio use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Simulated data, for learning and portfolio use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Donor Retention &amp; Lapse Analysis</a:t>
            </a:r>
            <a:endParaRPr lang="en-US" sz="4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965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Who stops giving, who is worth winning back, and when giving peaks</a:t>
            </a:r>
            <a:endParaRPr lang="en-US" sz="2200" dirty="0"/>
          </a:p>
        </p:txBody>
      </p:sp>
      <p:sp>
        <p:nvSpPr>
          <p:cNvPr id="4" name="Author"/>
          <p:cNvSpPr txBox="1"/>
          <p:nvPr/>
        </p:nvSpPr>
        <p:spPr>
          <a:xfrm>
            <a:off x="548640" y="2743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Imane Khtib</a:t>
            </a:r>
            <a:endParaRPr lang="en-US" sz="1800" dirty="0"/>
          </a:p>
        </p:txBody>
      </p:sp>
      <p:sp>
        <p:nvSpPr>
          <p:cNvPr id="5" name="Card total giving, 2023 to 2025"/>
          <p:cNvSpPr/>
          <p:nvPr/>
        </p:nvSpPr>
        <p:spPr>
          <a:xfrm>
            <a:off x="548640" y="393192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accent4"/>
          </a:solidFill>
          <a:ln/>
        </p:spPr>
      </p:sp>
      <p:sp>
        <p:nvSpPr>
          <p:cNvPr id="6" name="Card number total giving, 2023 to 2025"/>
          <p:cNvSpPr txBox="1"/>
          <p:nvPr/>
        </p:nvSpPr>
        <p:spPr>
          <a:xfrm>
            <a:off x="731520" y="4160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$1.62M</a:t>
            </a:r>
            <a:endParaRPr lang="en-US" sz="3800" dirty="0"/>
          </a:p>
        </p:txBody>
      </p:sp>
      <p:sp>
        <p:nvSpPr>
          <p:cNvPr id="7" name="Card label total giving, 2023 to 2025"/>
          <p:cNvSpPr txBox="1"/>
          <p:nvPr/>
        </p:nvSpPr>
        <p:spPr>
          <a:xfrm>
            <a:off x="731520" y="4892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total giving, 2023 to 2025</a:t>
            </a:r>
            <a:endParaRPr lang="en-US" sz="1400" dirty="0"/>
          </a:p>
        </p:txBody>
      </p:sp>
      <p:sp>
        <p:nvSpPr>
          <p:cNvPr id="8" name="Card donors"/>
          <p:cNvSpPr/>
          <p:nvPr/>
        </p:nvSpPr>
        <p:spPr>
          <a:xfrm>
            <a:off x="3364992" y="393192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accent4"/>
          </a:solidFill>
          <a:ln/>
        </p:spPr>
      </p:sp>
      <p:sp>
        <p:nvSpPr>
          <p:cNvPr id="9" name="Card number donors"/>
          <p:cNvSpPr txBox="1"/>
          <p:nvPr/>
        </p:nvSpPr>
        <p:spPr>
          <a:xfrm>
            <a:off x="3547872" y="4160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800" dirty="0"/>
          </a:p>
        </p:txBody>
      </p:sp>
      <p:sp>
        <p:nvSpPr>
          <p:cNvPr id="10" name="Card label donors"/>
          <p:cNvSpPr txBox="1"/>
          <p:nvPr/>
        </p:nvSpPr>
        <p:spPr>
          <a:xfrm>
            <a:off x="3547872" y="4892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donors</a:t>
            </a:r>
            <a:endParaRPr lang="en-US" sz="1400" dirty="0"/>
          </a:p>
        </p:txBody>
      </p:sp>
      <p:sp>
        <p:nvSpPr>
          <p:cNvPr id="11" name="Card gifts"/>
          <p:cNvSpPr/>
          <p:nvPr/>
        </p:nvSpPr>
        <p:spPr>
          <a:xfrm>
            <a:off x="6181344" y="393192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accent4"/>
          </a:solidFill>
          <a:ln/>
        </p:spPr>
      </p:sp>
      <p:sp>
        <p:nvSpPr>
          <p:cNvPr id="12" name="Card number gifts"/>
          <p:cNvSpPr txBox="1"/>
          <p:nvPr/>
        </p:nvSpPr>
        <p:spPr>
          <a:xfrm>
            <a:off x="6364224" y="4160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8,816</a:t>
            </a:r>
            <a:endParaRPr lang="en-US" sz="3800" dirty="0"/>
          </a:p>
        </p:txBody>
      </p:sp>
      <p:sp>
        <p:nvSpPr>
          <p:cNvPr id="13" name="Card label gifts"/>
          <p:cNvSpPr txBox="1"/>
          <p:nvPr/>
        </p:nvSpPr>
        <p:spPr>
          <a:xfrm>
            <a:off x="6364224" y="4892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gifts</a:t>
            </a:r>
            <a:endParaRPr lang="en-US" sz="1400" dirty="0"/>
          </a:p>
        </p:txBody>
      </p:sp>
      <p:sp>
        <p:nvSpPr>
          <p:cNvPr id="14" name="Card lapsed donors analyzed"/>
          <p:cNvSpPr/>
          <p:nvPr/>
        </p:nvSpPr>
        <p:spPr>
          <a:xfrm>
            <a:off x="8997696" y="393192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accent4"/>
          </a:solidFill>
          <a:ln/>
        </p:spPr>
      </p:sp>
      <p:sp>
        <p:nvSpPr>
          <p:cNvPr id="15" name="Card number lapsed donors analyzed"/>
          <p:cNvSpPr txBox="1"/>
          <p:nvPr/>
        </p:nvSpPr>
        <p:spPr>
          <a:xfrm>
            <a:off x="9180576" y="4160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1,405</a:t>
            </a:r>
            <a:endParaRPr lang="en-US" sz="3800" dirty="0"/>
          </a:p>
        </p:txBody>
      </p:sp>
      <p:sp>
        <p:nvSpPr>
          <p:cNvPr id="16" name="Card label lapsed donors analyzed"/>
          <p:cNvSpPr txBox="1"/>
          <p:nvPr/>
        </p:nvSpPr>
        <p:spPr>
          <a:xfrm>
            <a:off x="9180576" y="4892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lapsed donors analyzed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Most first-time donors never come back</a:t>
            </a:r>
            <a:endParaRPr lang="en-US" sz="3200" dirty="0"/>
          </a:p>
        </p:txBody>
      </p:sp>
      <p:sp>
        <p:nvSpPr>
          <p:cNvPr id="3" name="Problem statement"/>
          <p:cNvSpPr txBox="1"/>
          <p:nvPr/>
        </p:nvSpPr>
        <p:spPr>
          <a:xfrm>
            <a:off x="548640" y="15087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Nonprofits lose most new donors and depend on a few loyal and major givers. Limited staff time has to go where it counts.</a:t>
            </a:r>
            <a:endParaRPr lang="en-US" sz="2000" dirty="0"/>
          </a:p>
        </p:txBody>
      </p:sp>
      <p:sp>
        <p:nvSpPr>
          <p:cNvPr id="4" name="Big stat"/>
          <p:cNvSpPr txBox="1"/>
          <p:nvPr/>
        </p:nvSpPr>
        <p:spPr>
          <a:xfrm>
            <a:off x="548640" y="3429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in 10</a:t>
            </a:r>
            <a:endParaRPr lang="en-US" sz="8000" dirty="0"/>
          </a:p>
        </p:txBody>
      </p:sp>
      <p:sp>
        <p:nvSpPr>
          <p:cNvPr id="5" name="Big stat label"/>
          <p:cNvSpPr txBox="1"/>
          <p:nvPr/>
        </p:nvSpPr>
        <p:spPr>
          <a:xfrm>
            <a:off x="548640" y="45262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new donors never give a second time</a:t>
            </a:r>
            <a:endParaRPr lang="en-US" sz="1800" dirty="0"/>
          </a:p>
        </p:txBody>
      </p:sp>
      <p:sp>
        <p:nvSpPr>
          <p:cNvPr id="6" name="Question card 1"/>
          <p:cNvSpPr/>
          <p:nvPr/>
        </p:nvSpPr>
        <p:spPr>
          <a:xfrm>
            <a:off x="6309360" y="1508760"/>
            <a:ext cx="53035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7" name="Icon circle 1"/>
          <p:cNvSpPr/>
          <p:nvPr/>
        </p:nvSpPr>
        <p:spPr>
          <a:xfrm>
            <a:off x="658368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Who comes back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11680"/>
            <a:ext cx="365760" cy="365760"/>
          </a:xfrm>
          <a:prstGeom prst="rect">
            <a:avLst/>
          </a:prstGeom>
        </p:spPr>
      </p:pic>
      <p:sp>
        <p:nvSpPr>
          <p:cNvPr id="9" name="Question 1"/>
          <p:cNvSpPr txBox="1"/>
          <p:nvPr/>
        </p:nvSpPr>
        <p:spPr>
          <a:xfrm>
            <a:off x="7543800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Who comes back?</a:t>
            </a:r>
            <a:endParaRPr lang="en-US" sz="2000" dirty="0"/>
          </a:p>
        </p:txBody>
      </p:sp>
      <p:sp>
        <p:nvSpPr>
          <p:cNvPr id="10" name="Question detail 1"/>
          <p:cNvSpPr txBox="1"/>
          <p:nvPr/>
        </p:nvSpPr>
        <p:spPr>
          <a:xfrm>
            <a:off x="7543800" y="2221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Retention by year and by cohort</a:t>
            </a:r>
            <a:endParaRPr lang="en-US" sz="1400" dirty="0"/>
          </a:p>
        </p:txBody>
      </p:sp>
      <p:sp>
        <p:nvSpPr>
          <p:cNvPr id="11" name="Question card 2"/>
          <p:cNvSpPr/>
          <p:nvPr/>
        </p:nvSpPr>
        <p:spPr>
          <a:xfrm>
            <a:off x="6309360" y="3108960"/>
            <a:ext cx="53035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2" name="Icon circle 2"/>
          <p:cNvSpPr/>
          <p:nvPr/>
        </p:nvSpPr>
        <p:spPr>
          <a:xfrm>
            <a:off x="6583680" y="3429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Who is worth winning back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611880"/>
            <a:ext cx="365760" cy="365760"/>
          </a:xfrm>
          <a:prstGeom prst="rect">
            <a:avLst/>
          </a:prstGeom>
        </p:spPr>
      </p:pic>
      <p:sp>
        <p:nvSpPr>
          <p:cNvPr id="14" name="Question 2"/>
          <p:cNvSpPr txBox="1"/>
          <p:nvPr/>
        </p:nvSpPr>
        <p:spPr>
          <a:xfrm>
            <a:off x="7543800" y="3337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Who is worth winning back?</a:t>
            </a:r>
            <a:endParaRPr lang="en-US" sz="2000" dirty="0"/>
          </a:p>
        </p:txBody>
      </p:sp>
      <p:sp>
        <p:nvSpPr>
          <p:cNvPr id="15" name="Question detail 2"/>
          <p:cNvSpPr txBox="1"/>
          <p:nvPr/>
        </p:nvSpPr>
        <p:spPr>
          <a:xfrm>
            <a:off x="7543800" y="38221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Lapsed donors ranked by past giving</a:t>
            </a:r>
            <a:endParaRPr lang="en-US" sz="1400" dirty="0"/>
          </a:p>
        </p:txBody>
      </p:sp>
      <p:sp>
        <p:nvSpPr>
          <p:cNvPr id="16" name="Question card 3"/>
          <p:cNvSpPr/>
          <p:nvPr/>
        </p:nvSpPr>
        <p:spPr>
          <a:xfrm>
            <a:off x="6309360" y="4709160"/>
            <a:ext cx="53035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7" name="Icon circle 3"/>
          <p:cNvSpPr/>
          <p:nvPr/>
        </p:nvSpPr>
        <p:spPr>
          <a:xfrm>
            <a:off x="6583680" y="5029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When does giving arrive?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5212080"/>
            <a:ext cx="365760" cy="365760"/>
          </a:xfrm>
          <a:prstGeom prst="rect">
            <a:avLst/>
          </a:prstGeom>
        </p:spPr>
      </p:pic>
      <p:sp>
        <p:nvSpPr>
          <p:cNvPr id="19" name="Question 3"/>
          <p:cNvSpPr txBox="1"/>
          <p:nvPr/>
        </p:nvSpPr>
        <p:spPr>
          <a:xfrm>
            <a:off x="7543800" y="4937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When does giving arrive?</a:t>
            </a:r>
            <a:endParaRPr lang="en-US" sz="2000" dirty="0"/>
          </a:p>
        </p:txBody>
      </p:sp>
      <p:sp>
        <p:nvSpPr>
          <p:cNvPr id="20" name="Question detail 3"/>
          <p:cNvSpPr txBox="1"/>
          <p:nvPr/>
        </p:nvSpPr>
        <p:spPr>
          <a:xfrm>
            <a:off x="7543800" y="54223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Campaigns, months and channels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End to end, and checked against known answers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548640" y="1554480"/>
            <a:ext cx="2011680" cy="237744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" name="Step icon circle 1"/>
          <p:cNvSpPr/>
          <p:nvPr/>
        </p:nvSpPr>
        <p:spPr>
          <a:xfrm>
            <a:off x="118872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Simu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965960"/>
            <a:ext cx="365760" cy="365760"/>
          </a:xfrm>
          <a:prstGeom prst="rect">
            <a:avLst/>
          </a:prstGeom>
        </p:spPr>
      </p:pic>
      <p:sp>
        <p:nvSpPr>
          <p:cNvPr id="6" name="Step name 1"/>
          <p:cNvSpPr txBox="1"/>
          <p:nvPr/>
        </p:nvSpPr>
        <p:spPr>
          <a:xfrm>
            <a:off x="64008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Simulate</a:t>
            </a:r>
            <a:endParaRPr lang="en-US" sz="1800" dirty="0"/>
          </a:p>
        </p:txBody>
      </p:sp>
      <p:sp>
        <p:nvSpPr>
          <p:cNvPr id="7" name="Step tool 1"/>
          <p:cNvSpPr txBox="1"/>
          <p:nvPr/>
        </p:nvSpPr>
        <p:spPr>
          <a:xfrm>
            <a:off x="64008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Python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2587752" y="2606040"/>
            <a:ext cx="18288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ep card 2"/>
          <p:cNvSpPr/>
          <p:nvPr/>
        </p:nvSpPr>
        <p:spPr>
          <a:xfrm>
            <a:off x="2811780" y="1554480"/>
            <a:ext cx="2011680" cy="237744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0" name="Step icon circle 2"/>
          <p:cNvSpPr/>
          <p:nvPr/>
        </p:nvSpPr>
        <p:spPr>
          <a:xfrm>
            <a:off x="345186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Load and valid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965960"/>
            <a:ext cx="365760" cy="365760"/>
          </a:xfrm>
          <a:prstGeom prst="rect">
            <a:avLst/>
          </a:prstGeom>
        </p:spPr>
      </p:pic>
      <p:sp>
        <p:nvSpPr>
          <p:cNvPr id="12" name="Step name 2"/>
          <p:cNvSpPr txBox="1"/>
          <p:nvPr/>
        </p:nvSpPr>
        <p:spPr>
          <a:xfrm>
            <a:off x="290322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Load and validate</a:t>
            </a:r>
            <a:endParaRPr lang="en-US" sz="1800" dirty="0"/>
          </a:p>
        </p:txBody>
      </p:sp>
      <p:sp>
        <p:nvSpPr>
          <p:cNvPr id="13" name="Step tool 2"/>
          <p:cNvSpPr txBox="1"/>
          <p:nvPr/>
        </p:nvSpPr>
        <p:spPr>
          <a:xfrm>
            <a:off x="290322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4850892" y="2606040"/>
            <a:ext cx="18288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tep card 3"/>
          <p:cNvSpPr/>
          <p:nvPr/>
        </p:nvSpPr>
        <p:spPr>
          <a:xfrm>
            <a:off x="5074920" y="1554480"/>
            <a:ext cx="2011680" cy="237744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6" name="Step icon circle 3"/>
          <p:cNvSpPr/>
          <p:nvPr/>
        </p:nvSpPr>
        <p:spPr>
          <a:xfrm>
            <a:off x="571500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Analyz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965960"/>
            <a:ext cx="365760" cy="365760"/>
          </a:xfrm>
          <a:prstGeom prst="rect">
            <a:avLst/>
          </a:prstGeom>
        </p:spPr>
      </p:pic>
      <p:sp>
        <p:nvSpPr>
          <p:cNvPr id="18" name="Step name 3"/>
          <p:cNvSpPr txBox="1"/>
          <p:nvPr/>
        </p:nvSpPr>
        <p:spPr>
          <a:xfrm>
            <a:off x="516636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Analyze</a:t>
            </a:r>
            <a:endParaRPr lang="en-US" sz="1800" dirty="0"/>
          </a:p>
        </p:txBody>
      </p:sp>
      <p:sp>
        <p:nvSpPr>
          <p:cNvPr id="19" name="Step tool 3"/>
          <p:cNvSpPr txBox="1"/>
          <p:nvPr/>
        </p:nvSpPr>
        <p:spPr>
          <a:xfrm>
            <a:off x="516636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SQL</a:t>
            </a:r>
            <a:endParaRPr lang="en-US" sz="1600" dirty="0"/>
          </a:p>
        </p:txBody>
      </p:sp>
      <p:sp>
        <p:nvSpPr>
          <p:cNvPr id="20" name="Arrow 3"/>
          <p:cNvSpPr/>
          <p:nvPr/>
        </p:nvSpPr>
        <p:spPr>
          <a:xfrm>
            <a:off x="7114032" y="2606040"/>
            <a:ext cx="18288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tep card 4"/>
          <p:cNvSpPr/>
          <p:nvPr/>
        </p:nvSpPr>
        <p:spPr>
          <a:xfrm>
            <a:off x="7338060" y="1554480"/>
            <a:ext cx="2011680" cy="237744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22" name="Step icon circle 4"/>
          <p:cNvSpPr/>
          <p:nvPr/>
        </p:nvSpPr>
        <p:spPr>
          <a:xfrm>
            <a:off x="797814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3" descr="Predic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1965960"/>
            <a:ext cx="365760" cy="365760"/>
          </a:xfrm>
          <a:prstGeom prst="rect">
            <a:avLst/>
          </a:prstGeom>
        </p:spPr>
      </p:pic>
      <p:sp>
        <p:nvSpPr>
          <p:cNvPr id="24" name="Step name 4"/>
          <p:cNvSpPr txBox="1"/>
          <p:nvPr/>
        </p:nvSpPr>
        <p:spPr>
          <a:xfrm>
            <a:off x="742950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Predict</a:t>
            </a:r>
            <a:endParaRPr lang="en-US" sz="1800" dirty="0"/>
          </a:p>
        </p:txBody>
      </p:sp>
      <p:sp>
        <p:nvSpPr>
          <p:cNvPr id="25" name="Step tool 4"/>
          <p:cNvSpPr txBox="1"/>
          <p:nvPr/>
        </p:nvSpPr>
        <p:spPr>
          <a:xfrm>
            <a:off x="742950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scikit-learn</a:t>
            </a:r>
            <a:endParaRPr lang="en-US" sz="1600" dirty="0"/>
          </a:p>
        </p:txBody>
      </p:sp>
      <p:sp>
        <p:nvSpPr>
          <p:cNvPr id="26" name="Arrow 4"/>
          <p:cNvSpPr/>
          <p:nvPr/>
        </p:nvSpPr>
        <p:spPr>
          <a:xfrm>
            <a:off x="9377172" y="2606040"/>
            <a:ext cx="18288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Step card 5"/>
          <p:cNvSpPr/>
          <p:nvPr/>
        </p:nvSpPr>
        <p:spPr>
          <a:xfrm>
            <a:off x="9601200" y="1554480"/>
            <a:ext cx="2011680" cy="237744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28" name="Step icon circle 5"/>
          <p:cNvSpPr/>
          <p:nvPr/>
        </p:nvSpPr>
        <p:spPr>
          <a:xfrm>
            <a:off x="1024128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mage 4" descr="Exte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1965960"/>
            <a:ext cx="365760" cy="365760"/>
          </a:xfrm>
          <a:prstGeom prst="rect">
            <a:avLst/>
          </a:prstGeom>
        </p:spPr>
      </p:pic>
      <p:sp>
        <p:nvSpPr>
          <p:cNvPr id="30" name="Step name 5"/>
          <p:cNvSpPr txBox="1"/>
          <p:nvPr/>
        </p:nvSpPr>
        <p:spPr>
          <a:xfrm>
            <a:off x="969264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Extend</a:t>
            </a:r>
            <a:endParaRPr lang="en-US" sz="1800" dirty="0"/>
          </a:p>
        </p:txBody>
      </p:sp>
      <p:sp>
        <p:nvSpPr>
          <p:cNvPr id="31" name="Step tool 5"/>
          <p:cNvSpPr txBox="1"/>
          <p:nvPr/>
        </p:nvSpPr>
        <p:spPr>
          <a:xfrm>
            <a:off x="969264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Salesforce</a:t>
            </a:r>
            <a:endParaRPr lang="en-US" sz="1600" dirty="0"/>
          </a:p>
        </p:txBody>
      </p:sp>
      <p:sp>
        <p:nvSpPr>
          <p:cNvPr id="32" name="Validation callout"/>
          <p:cNvSpPr/>
          <p:nvPr/>
        </p:nvSpPr>
        <p:spPr>
          <a:xfrm>
            <a:off x="548640" y="4343400"/>
            <a:ext cx="11064240" cy="164592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/>
        </p:spPr>
      </p:sp>
      <p:sp>
        <p:nvSpPr>
          <p:cNvPr id="33" name="Callout heading"/>
          <p:cNvSpPr txBox="1"/>
          <p:nvPr/>
        </p:nvSpPr>
        <p:spPr>
          <a:xfrm>
            <a:off x="914400" y="45262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Checked against known answers</a:t>
            </a:r>
            <a:endParaRPr lang="en-US" sz="2000" dirty="0"/>
          </a:p>
        </p:txBody>
      </p:sp>
      <p:sp>
        <p:nvSpPr>
          <p:cNvPr id="34" name="Callout line 1"/>
          <p:cNvSpPr txBox="1"/>
          <p:nvPr/>
        </p:nvSpPr>
        <p:spPr>
          <a:xfrm>
            <a:off x="914400" y="50292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The simulation predicts 29.2% first-year retention. The analysis measured 29.4% and 30.8%.</a:t>
            </a:r>
            <a:endParaRPr lang="en-US" sz="1800" dirty="0"/>
          </a:p>
        </p:txBody>
      </p:sp>
      <p:sp>
        <p:nvSpPr>
          <p:cNvPr id="35" name="Callout line 2"/>
          <p:cNvSpPr txBox="1"/>
          <p:nvPr/>
        </p:nvSpPr>
        <p:spPr>
          <a:xfrm>
            <a:off x="914400" y="54681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Python and SQL matched on every key metric.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Only 3 in 10 new donors give a second time</a:t>
            </a:r>
            <a:endParaRPr lang="en-US" sz="3200" dirty="0"/>
          </a:p>
        </p:txBody>
      </p:sp>
      <p:sp>
        <p:nvSpPr>
          <p:cNvPr id="3" name="Heatmap caption"/>
          <p:cNvSpPr txBox="1"/>
          <p:nvPr/>
        </p:nvSpPr>
        <p:spPr>
          <a:xfrm>
            <a:off x="548640" y="13258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Share of each cohort still giving, by years since first gift</a:t>
            </a:r>
            <a:endParaRPr lang="en-US" sz="1400" dirty="0"/>
          </a:p>
        </p:txBody>
      </p:sp>
      <p:sp>
        <p:nvSpPr>
          <p:cNvPr id="4" name="Column Year 0"/>
          <p:cNvSpPr txBox="1"/>
          <p:nvPr/>
        </p:nvSpPr>
        <p:spPr>
          <a:xfrm>
            <a:off x="1828800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Year 0</a:t>
            </a:r>
            <a:endParaRPr lang="en-US" sz="1400" dirty="0"/>
          </a:p>
        </p:txBody>
      </p:sp>
      <p:sp>
        <p:nvSpPr>
          <p:cNvPr id="5" name="Column Year 1"/>
          <p:cNvSpPr txBox="1"/>
          <p:nvPr/>
        </p:nvSpPr>
        <p:spPr>
          <a:xfrm>
            <a:off x="3364992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Year 1</a:t>
            </a:r>
            <a:endParaRPr lang="en-US" sz="1400" dirty="0"/>
          </a:p>
        </p:txBody>
      </p:sp>
      <p:sp>
        <p:nvSpPr>
          <p:cNvPr id="6" name="Column Year 2"/>
          <p:cNvSpPr txBox="1"/>
          <p:nvPr/>
        </p:nvSpPr>
        <p:spPr>
          <a:xfrm>
            <a:off x="4901184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Year 2</a:t>
            </a:r>
            <a:endParaRPr lang="en-US" sz="1400" dirty="0"/>
          </a:p>
        </p:txBody>
      </p:sp>
      <p:sp>
        <p:nvSpPr>
          <p:cNvPr id="7" name="Row label 2023 cohort"/>
          <p:cNvSpPr txBox="1"/>
          <p:nvPr/>
        </p:nvSpPr>
        <p:spPr>
          <a:xfrm>
            <a:off x="548640" y="2194560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2023 cohort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1,971 donors</a:t>
            </a:r>
            <a:endParaRPr lang="en-US" sz="1600" dirty="0"/>
          </a:p>
        </p:txBody>
      </p:sp>
      <p:sp>
        <p:nvSpPr>
          <p:cNvPr id="8" name="Cell 2023 cohort 0"/>
          <p:cNvSpPr/>
          <p:nvPr/>
        </p:nvSpPr>
        <p:spPr>
          <a:xfrm>
            <a:off x="1828800" y="2194560"/>
            <a:ext cx="1463040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Cell value 2023 cohort 0"/>
          <p:cNvSpPr txBox="1"/>
          <p:nvPr/>
        </p:nvSpPr>
        <p:spPr>
          <a:xfrm>
            <a:off x="1828800" y="219456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0" name="Cell 2023 cohort 1"/>
          <p:cNvSpPr/>
          <p:nvPr/>
        </p:nvSpPr>
        <p:spPr>
          <a:xfrm>
            <a:off x="3364992" y="2194560"/>
            <a:ext cx="1463040" cy="1051560"/>
          </a:xfrm>
          <a:prstGeom prst="rect">
            <a:avLst/>
          </a:prstGeom>
          <a:solidFill>
            <a:srgbClr val="7FAEDB"/>
          </a:solidFill>
          <a:ln/>
        </p:spPr>
      </p:sp>
      <p:sp>
        <p:nvSpPr>
          <p:cNvPr id="11" name="Cell value 2023 cohort 1"/>
          <p:cNvSpPr txBox="1"/>
          <p:nvPr/>
        </p:nvSpPr>
        <p:spPr>
          <a:xfrm>
            <a:off x="3364992" y="219456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29.4%</a:t>
            </a:r>
            <a:endParaRPr lang="en-US" sz="2800" dirty="0"/>
          </a:p>
        </p:txBody>
      </p:sp>
      <p:sp>
        <p:nvSpPr>
          <p:cNvPr id="12" name="Cell 2023 cohort 2"/>
          <p:cNvSpPr/>
          <p:nvPr/>
        </p:nvSpPr>
        <p:spPr>
          <a:xfrm>
            <a:off x="4901184" y="2194560"/>
            <a:ext cx="1463040" cy="1051560"/>
          </a:xfrm>
          <a:prstGeom prst="rect">
            <a:avLst/>
          </a:prstGeom>
          <a:solidFill>
            <a:srgbClr val="B5CFEA"/>
          </a:solidFill>
          <a:ln/>
        </p:spPr>
      </p:sp>
      <p:sp>
        <p:nvSpPr>
          <p:cNvPr id="13" name="Cell value 2023 cohort 2"/>
          <p:cNvSpPr txBox="1"/>
          <p:nvPr/>
        </p:nvSpPr>
        <p:spPr>
          <a:xfrm>
            <a:off x="4901184" y="219456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19.1%</a:t>
            </a:r>
            <a:endParaRPr lang="en-US" sz="2800" dirty="0"/>
          </a:p>
        </p:txBody>
      </p:sp>
      <p:sp>
        <p:nvSpPr>
          <p:cNvPr id="14" name="Row label 2024 cohort"/>
          <p:cNvSpPr txBox="1"/>
          <p:nvPr/>
        </p:nvSpPr>
        <p:spPr>
          <a:xfrm>
            <a:off x="548640" y="3319272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2024 cohort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1,651 donors</a:t>
            </a:r>
            <a:endParaRPr lang="en-US" sz="1600" dirty="0"/>
          </a:p>
        </p:txBody>
      </p:sp>
      <p:sp>
        <p:nvSpPr>
          <p:cNvPr id="15" name="Cell 2024 cohort 0"/>
          <p:cNvSpPr/>
          <p:nvPr/>
        </p:nvSpPr>
        <p:spPr>
          <a:xfrm>
            <a:off x="1828800" y="3319272"/>
            <a:ext cx="1463040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6" name="Cell value 2024 cohort 0"/>
          <p:cNvSpPr txBox="1"/>
          <p:nvPr/>
        </p:nvSpPr>
        <p:spPr>
          <a:xfrm>
            <a:off x="1828800" y="331927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7" name="Cell 2024 cohort 1"/>
          <p:cNvSpPr/>
          <p:nvPr/>
        </p:nvSpPr>
        <p:spPr>
          <a:xfrm>
            <a:off x="3364992" y="3319272"/>
            <a:ext cx="1463040" cy="1051560"/>
          </a:xfrm>
          <a:prstGeom prst="rect">
            <a:avLst/>
          </a:prstGeom>
          <a:solidFill>
            <a:srgbClr val="7FAEDB"/>
          </a:solidFill>
          <a:ln/>
        </p:spPr>
      </p:sp>
      <p:sp>
        <p:nvSpPr>
          <p:cNvPr id="18" name="Cell value 2024 cohort 1"/>
          <p:cNvSpPr txBox="1"/>
          <p:nvPr/>
        </p:nvSpPr>
        <p:spPr>
          <a:xfrm>
            <a:off x="3364992" y="331927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30.8%</a:t>
            </a:r>
            <a:endParaRPr lang="en-US" sz="2800" dirty="0"/>
          </a:p>
        </p:txBody>
      </p:sp>
      <p:sp>
        <p:nvSpPr>
          <p:cNvPr id="19" name="Cell 2024 cohort 2"/>
          <p:cNvSpPr/>
          <p:nvPr/>
        </p:nvSpPr>
        <p:spPr>
          <a:xfrm>
            <a:off x="4901184" y="3319272"/>
            <a:ext cx="1463040" cy="1051560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20" name="Cell value 2024 cohort 2"/>
          <p:cNvSpPr txBox="1"/>
          <p:nvPr/>
        </p:nvSpPr>
        <p:spPr>
          <a:xfrm>
            <a:off x="4901184" y="331927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not yet</a:t>
            </a:r>
            <a:endParaRPr lang="en-US" sz="1400" dirty="0"/>
          </a:p>
        </p:txBody>
      </p:sp>
      <p:sp>
        <p:nvSpPr>
          <p:cNvPr id="21" name="Row label 2025 cohort"/>
          <p:cNvSpPr txBox="1"/>
          <p:nvPr/>
        </p:nvSpPr>
        <p:spPr>
          <a:xfrm>
            <a:off x="548640" y="4443984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2025 cohort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1,378 donors</a:t>
            </a:r>
            <a:endParaRPr lang="en-US" sz="1600" dirty="0"/>
          </a:p>
        </p:txBody>
      </p:sp>
      <p:sp>
        <p:nvSpPr>
          <p:cNvPr id="22" name="Cell 2025 cohort 0"/>
          <p:cNvSpPr/>
          <p:nvPr/>
        </p:nvSpPr>
        <p:spPr>
          <a:xfrm>
            <a:off x="1828800" y="4443984"/>
            <a:ext cx="1463040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3" name="Cell value 2025 cohort 0"/>
          <p:cNvSpPr txBox="1"/>
          <p:nvPr/>
        </p:nvSpPr>
        <p:spPr>
          <a:xfrm>
            <a:off x="1828800" y="4443984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24" name="Cell 2025 cohort 1"/>
          <p:cNvSpPr/>
          <p:nvPr/>
        </p:nvSpPr>
        <p:spPr>
          <a:xfrm>
            <a:off x="3364992" y="4443984"/>
            <a:ext cx="1463040" cy="1051560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25" name="Cell value 2025 cohort 1"/>
          <p:cNvSpPr txBox="1"/>
          <p:nvPr/>
        </p:nvSpPr>
        <p:spPr>
          <a:xfrm>
            <a:off x="3364992" y="4443984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not yet</a:t>
            </a:r>
            <a:endParaRPr lang="en-US" sz="1400" dirty="0"/>
          </a:p>
        </p:txBody>
      </p:sp>
      <p:sp>
        <p:nvSpPr>
          <p:cNvPr id="26" name="Cell 2025 cohort 2"/>
          <p:cNvSpPr/>
          <p:nvPr/>
        </p:nvSpPr>
        <p:spPr>
          <a:xfrm>
            <a:off x="4901184" y="4443984"/>
            <a:ext cx="1463040" cy="1051560"/>
          </a:xfrm>
          <a:prstGeom prst="rect">
            <a:avLst/>
          </a:prstGeom>
          <a:solidFill>
            <a:srgbClr val="F1F4F9"/>
          </a:solidFill>
          <a:ln/>
        </p:spPr>
      </p:sp>
      <p:sp>
        <p:nvSpPr>
          <p:cNvPr id="27" name="Cell value 2025 cohort 2"/>
          <p:cNvSpPr txBox="1"/>
          <p:nvPr/>
        </p:nvSpPr>
        <p:spPr>
          <a:xfrm>
            <a:off x="4901184" y="4443984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not yet</a:t>
            </a:r>
            <a:endParaRPr lang="en-US" sz="1400" dirty="0"/>
          </a:p>
        </p:txBody>
      </p:sp>
      <p:sp>
        <p:nvSpPr>
          <p:cNvPr id="28" name="Stat 29.4%"/>
          <p:cNvSpPr txBox="1"/>
          <p:nvPr/>
        </p:nvSpPr>
        <p:spPr>
          <a:xfrm>
            <a:off x="7040880" y="14630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29.4%</a:t>
            </a:r>
            <a:endParaRPr lang="en-US" sz="4600" dirty="0"/>
          </a:p>
        </p:txBody>
      </p:sp>
      <p:sp>
        <p:nvSpPr>
          <p:cNvPr id="29" name="Stat label 29.4%"/>
          <p:cNvSpPr txBox="1"/>
          <p:nvPr/>
        </p:nvSpPr>
        <p:spPr>
          <a:xfrm>
            <a:off x="7040880" y="2240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the 2023 cohort gave again in 2024</a:t>
            </a:r>
            <a:endParaRPr lang="en-US" sz="1600" dirty="0"/>
          </a:p>
        </p:txBody>
      </p:sp>
      <p:sp>
        <p:nvSpPr>
          <p:cNvPr id="30" name="Stat 30.8%"/>
          <p:cNvSpPr txBox="1"/>
          <p:nvPr/>
        </p:nvSpPr>
        <p:spPr>
          <a:xfrm>
            <a:off x="7040880" y="3063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30.8%</a:t>
            </a:r>
            <a:endParaRPr lang="en-US" sz="4600" dirty="0"/>
          </a:p>
        </p:txBody>
      </p:sp>
      <p:sp>
        <p:nvSpPr>
          <p:cNvPr id="31" name="Stat label 30.8%"/>
          <p:cNvSpPr txBox="1"/>
          <p:nvPr/>
        </p:nvSpPr>
        <p:spPr>
          <a:xfrm>
            <a:off x="7040880" y="3840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the 2024 cohort gave again in 2025</a:t>
            </a:r>
            <a:endParaRPr lang="en-US" sz="1600" dirty="0"/>
          </a:p>
        </p:txBody>
      </p:sp>
      <p:sp>
        <p:nvSpPr>
          <p:cNvPr id="32" name="Retention takeaway"/>
          <p:cNvSpPr txBox="1"/>
          <p:nvPr/>
        </p:nvSpPr>
        <p:spPr>
          <a:xfrm>
            <a:off x="7040880" y="47548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biggest loss comes right after the first gift. Donors who survive year 1 tend to stay.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Growth depends on new donors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62%"/>
          <p:cNvSpPr txBox="1"/>
          <p:nvPr/>
        </p:nvSpPr>
        <p:spPr>
          <a:xfrm>
            <a:off x="7680960" y="14630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4600" dirty="0"/>
          </a:p>
        </p:txBody>
      </p:sp>
      <p:sp>
        <p:nvSpPr>
          <p:cNvPr id="5" name="Stat label 62%"/>
          <p:cNvSpPr txBox="1"/>
          <p:nvPr/>
        </p:nvSpPr>
        <p:spPr>
          <a:xfrm>
            <a:off x="7680960" y="2240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2025 giving came from returning donors</a:t>
            </a:r>
            <a:endParaRPr lang="en-US" sz="1600" dirty="0"/>
          </a:p>
        </p:txBody>
      </p:sp>
      <p:sp>
        <p:nvSpPr>
          <p:cNvPr id="6" name="Stat $141 to $267"/>
          <p:cNvSpPr txBox="1"/>
          <p:nvPr/>
        </p:nvSpPr>
        <p:spPr>
          <a:xfrm>
            <a:off x="7680960" y="30632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$141 to $267</a:t>
            </a:r>
            <a:endParaRPr lang="en-US" sz="3600" dirty="0"/>
          </a:p>
        </p:txBody>
      </p:sp>
      <p:sp>
        <p:nvSpPr>
          <p:cNvPr id="7" name="Stat label $141 to $267"/>
          <p:cNvSpPr txBox="1"/>
          <p:nvPr/>
        </p:nvSpPr>
        <p:spPr>
          <a:xfrm>
            <a:off x="7680960" y="3840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average gift of the 2023 cohort, first year to year 3</a:t>
            </a:r>
            <a:endParaRPr lang="en-US" sz="1600" dirty="0"/>
          </a:p>
        </p:txBody>
      </p:sp>
      <p:sp>
        <p:nvSpPr>
          <p:cNvPr id="8" name="Cohort takeaway"/>
          <p:cNvSpPr txBox="1"/>
          <p:nvPr/>
        </p:nvSpPr>
        <p:spPr>
          <a:xfrm>
            <a:off x="7680960" y="47548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If new donor acquisition slowed, total giving would fall quickly.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77 of 1,405 lapsed donors hold half the lost value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$106K"/>
          <p:cNvSpPr txBox="1"/>
          <p:nvPr/>
        </p:nvSpPr>
        <p:spPr>
          <a:xfrm>
            <a:off x="7680960" y="14630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$106K</a:t>
            </a:r>
            <a:endParaRPr lang="en-US" sz="4600" dirty="0"/>
          </a:p>
        </p:txBody>
      </p:sp>
      <p:sp>
        <p:nvSpPr>
          <p:cNvPr id="5" name="Stat label $106K"/>
          <p:cNvSpPr txBox="1"/>
          <p:nvPr/>
        </p:nvSpPr>
        <p:spPr>
          <a:xfrm>
            <a:off x="7680960" y="2240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past giving sits with the top 77 lapsed donors</a:t>
            </a:r>
            <a:endParaRPr lang="en-US" sz="1600" dirty="0"/>
          </a:p>
        </p:txBody>
      </p:sp>
      <p:sp>
        <p:nvSpPr>
          <p:cNvPr id="6" name="Stat $170K"/>
          <p:cNvSpPr txBox="1"/>
          <p:nvPr/>
        </p:nvSpPr>
        <p:spPr>
          <a:xfrm>
            <a:off x="7680960" y="30632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$170K</a:t>
            </a:r>
            <a:endParaRPr lang="en-US" sz="4600" dirty="0"/>
          </a:p>
        </p:txBody>
      </p:sp>
      <p:sp>
        <p:nvSpPr>
          <p:cNvPr id="7" name="Stat label $170K"/>
          <p:cNvSpPr txBox="1"/>
          <p:nvPr/>
        </p:nvSpPr>
        <p:spPr>
          <a:xfrm>
            <a:off x="7680960" y="3840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sits with the top 441, which is 80% of lapsed giving</a:t>
            </a:r>
            <a:endParaRPr lang="en-US" sz="1600" dirty="0"/>
          </a:p>
        </p:txBody>
      </p:sp>
      <p:sp>
        <p:nvSpPr>
          <p:cNvPr id="8" name="Pareto takeaway"/>
          <p:cNvSpPr txBox="1"/>
          <p:nvPr/>
        </p:nvSpPr>
        <p:spPr>
          <a:xfrm>
            <a:off x="7680960" y="475488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personal call to 77 people covers half the lost value. The long tail is mostly small one-time donors.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Year-End Appeal decides the year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35%"/>
          <p:cNvSpPr txBox="1"/>
          <p:nvPr/>
        </p:nvSpPr>
        <p:spPr>
          <a:xfrm>
            <a:off x="7680960" y="14630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4600" dirty="0"/>
          </a:p>
        </p:txBody>
      </p:sp>
      <p:sp>
        <p:nvSpPr>
          <p:cNvPr id="5" name="Stat label 35%"/>
          <p:cNvSpPr txBox="1"/>
          <p:nvPr/>
        </p:nvSpPr>
        <p:spPr>
          <a:xfrm>
            <a:off x="7680960" y="2240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annual giving arrives in November and December</a:t>
            </a:r>
            <a:endParaRPr lang="en-US" sz="1600" dirty="0"/>
          </a:p>
        </p:txBody>
      </p:sp>
      <p:sp>
        <p:nvSpPr>
          <p:cNvPr id="6" name="Stat $473,775"/>
          <p:cNvSpPr txBox="1"/>
          <p:nvPr/>
        </p:nvSpPr>
        <p:spPr>
          <a:xfrm>
            <a:off x="7680960" y="30632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$473,775</a:t>
            </a:r>
            <a:endParaRPr lang="en-US" sz="4000" dirty="0"/>
          </a:p>
        </p:txBody>
      </p:sp>
      <p:sp>
        <p:nvSpPr>
          <p:cNvPr id="7" name="Stat label $473,775"/>
          <p:cNvSpPr txBox="1"/>
          <p:nvPr/>
        </p:nvSpPr>
        <p:spPr>
          <a:xfrm>
            <a:off x="7680960" y="3840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raised by the Year-End Appeal, the strongest named campaign</a:t>
            </a:r>
            <a:endParaRPr lang="en-US" sz="1600" dirty="0"/>
          </a:p>
        </p:txBody>
      </p:sp>
      <p:sp>
        <p:nvSpPr>
          <p:cNvPr id="8" name="Season takeaway"/>
          <p:cNvSpPr txBox="1"/>
          <p:nvPr/>
        </p:nvSpPr>
        <p:spPr>
          <a:xfrm>
            <a:off x="7680960" y="47548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Have messaging, mailing lists and online giving pages ready by autumn.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Lapse risk can be predicted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5836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0.82"/>
          <p:cNvSpPr txBox="1"/>
          <p:nvPr/>
        </p:nvSpPr>
        <p:spPr>
          <a:xfrm>
            <a:off x="7680960" y="14630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4600" dirty="0"/>
          </a:p>
        </p:txBody>
      </p:sp>
      <p:sp>
        <p:nvSpPr>
          <p:cNvPr id="5" name="Stat label 0.82"/>
          <p:cNvSpPr txBox="1"/>
          <p:nvPr/>
        </p:nvSpPr>
        <p:spPr>
          <a:xfrm>
            <a:off x="7680960" y="2240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ROC-AUC on held-out donors (0.5 is a coin flip)</a:t>
            </a:r>
            <a:endParaRPr lang="en-US" sz="1600" dirty="0"/>
          </a:p>
        </p:txBody>
      </p:sp>
      <p:sp>
        <p:nvSpPr>
          <p:cNvPr id="6" name="Model takeaway 1"/>
          <p:cNvSpPr txBox="1"/>
          <p:nvPr/>
        </p:nvSpPr>
        <p:spPr>
          <a:xfrm>
            <a:off x="7680960" y="30632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top 30% by risk lapse at about 94%. The lowest 10% lapse at 16%.</a:t>
            </a:r>
            <a:endParaRPr lang="en-US" sz="1800" dirty="0"/>
          </a:p>
        </p:txBody>
      </p:sp>
      <p:sp>
        <p:nvSpPr>
          <p:cNvPr id="7" name="Model takeaway 2"/>
          <p:cNvSpPr txBox="1"/>
          <p:nvPr/>
        </p:nvSpPr>
        <p:spPr>
          <a:xfrm>
            <a:off x="7680960" y="40233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Best targets are donors who are both valuable and at risk.</a:t>
            </a:r>
            <a:endParaRPr lang="en-US" sz="1800" dirty="0"/>
          </a:p>
        </p:txBody>
      </p:sp>
      <p:sp>
        <p:nvSpPr>
          <p:cNvPr id="8" name="Caveat box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9" name="Caveat text"/>
          <p:cNvSpPr txBox="1"/>
          <p:nvPr/>
        </p:nvSpPr>
        <p:spPr>
          <a:xfrm>
            <a:off x="777240" y="5577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model ranks risk. It does not show that outreach brings donors back. That needs an A/B test.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a fundraising team should do</a:t>
            </a:r>
            <a:endParaRPr lang="en-US" sz="3200" dirty="0"/>
          </a:p>
        </p:txBody>
      </p:sp>
      <p:graphicFrame>
        <p:nvGraphicFramePr>
          <p:cNvPr id="10" name="Ac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03504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How to measure success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Send a thank-you, then a second ask soon after the first gift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Second-gift rate within 12 months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Tier win-back: personal contact for the top 77 lapsed donors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Reactivation rate and dollars recovered per tier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Rank outreach by lapse risk and past giving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Reactivation lift against a control group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Plan the Year-End Appeal by autumn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Year-end revenue against the prior year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Track retention by cohort every year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Cohort retention reported annually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sk callout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</p:sp>
      <p:sp>
        <p:nvSpPr>
          <p:cNvPr id="5" name="Ask text"/>
          <p:cNvSpPr txBox="1"/>
          <p:nvPr/>
        </p:nvSpPr>
        <p:spPr>
          <a:xfrm>
            <a:off x="868680" y="5029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The ask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Start with personal calls to the top 77 lapsed donors (about $106K of past giving), and test thank-you timing on new donors.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Also built in Salesforce, and what comes next</a:t>
            </a:r>
            <a:endParaRPr lang="en-US" sz="3200" dirty="0"/>
          </a:p>
        </p:txBody>
      </p:sp>
      <p:pic>
        <p:nvPicPr>
          <p:cNvPr id="3" name="Image 0" descr="Salesforce Donor Giving Overview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035040" cy="4150280"/>
          </a:xfrm>
          <a:prstGeom prst="rect">
            <a:avLst/>
          </a:prstGeom>
        </p:spPr>
      </p:pic>
      <p:sp>
        <p:nvSpPr>
          <p:cNvPr id="4" name="SF number 1"/>
          <p:cNvSpPr txBox="1"/>
          <p:nvPr/>
        </p:nvSpPr>
        <p:spPr>
          <a:xfrm>
            <a:off x="7040880" y="14173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200" dirty="0"/>
          </a:p>
        </p:txBody>
      </p:sp>
      <p:sp>
        <p:nvSpPr>
          <p:cNvPr id="5" name="SF label 1"/>
          <p:cNvSpPr txBox="1"/>
          <p:nvPr/>
        </p:nvSpPr>
        <p:spPr>
          <a:xfrm>
            <a:off x="8549640" y="1417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donors became Accounts</a:t>
            </a:r>
            <a:endParaRPr lang="en-US" sz="1600" dirty="0"/>
          </a:p>
        </p:txBody>
      </p:sp>
      <p:sp>
        <p:nvSpPr>
          <p:cNvPr id="6" name="SF number 2"/>
          <p:cNvSpPr txBox="1"/>
          <p:nvPr/>
        </p:nvSpPr>
        <p:spPr>
          <a:xfrm>
            <a:off x="7040880" y="2377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901</a:t>
            </a:r>
            <a:endParaRPr lang="en-US" sz="3200" dirty="0"/>
          </a:p>
        </p:txBody>
      </p:sp>
      <p:sp>
        <p:nvSpPr>
          <p:cNvPr id="7" name="SF label 2"/>
          <p:cNvSpPr txBox="1"/>
          <p:nvPr/>
        </p:nvSpPr>
        <p:spPr>
          <a:xfrm>
            <a:off x="8549640" y="23774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gifts became Opportunities, linked by an external ID</a:t>
            </a:r>
            <a:endParaRPr lang="en-US" sz="1600" dirty="0"/>
          </a:p>
        </p:txBody>
      </p:sp>
      <p:sp>
        <p:nvSpPr>
          <p:cNvPr id="8" name="SF number 3"/>
          <p:cNvSpPr txBox="1"/>
          <p:nvPr/>
        </p:nvSpPr>
        <p:spPr>
          <a:xfrm>
            <a:off x="7040880" y="33375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+ 1</a:t>
            </a:r>
            <a:endParaRPr lang="en-US" sz="3200" dirty="0"/>
          </a:p>
        </p:txBody>
      </p:sp>
      <p:sp>
        <p:nvSpPr>
          <p:cNvPr id="9" name="SF label 3"/>
          <p:cNvSpPr txBox="1"/>
          <p:nvPr/>
        </p:nvSpPr>
        <p:spPr>
          <a:xfrm>
            <a:off x="8549640" y="33375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reports and a dashboard, with 0 import errors</a:t>
            </a:r>
            <a:endParaRPr lang="en-US" sz="1600" dirty="0"/>
          </a:p>
        </p:txBody>
      </p:sp>
      <p:sp>
        <p:nvSpPr>
          <p:cNvPr id="10" name="Next heading"/>
          <p:cNvSpPr txBox="1"/>
          <p:nvPr/>
        </p:nvSpPr>
        <p:spPr>
          <a:xfrm>
            <a:off x="704088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Next, with real data</a:t>
            </a:r>
            <a:endParaRPr lang="en-US" sz="2000" dirty="0"/>
          </a:p>
        </p:txBody>
      </p:sp>
      <p:sp>
        <p:nvSpPr>
          <p:cNvPr id="11" name="Next steps"/>
          <p:cNvSpPr txBox="1"/>
          <p:nvPr/>
        </p:nvSpPr>
        <p:spPr>
          <a:xfrm>
            <a:off x="7040880" y="48920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RFM scoring as an explainable complement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Outreach A/B tests to measure impact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 BI dashboard for cohort tracking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nor Analysis">
  <a:themeElements>
    <a:clrScheme name="Donor Analysis">
      <a:dk1>
        <a:srgbClr val="1B2433"/>
      </a:dk1>
      <a:lt1>
        <a:srgbClr val="FFFFFF"/>
      </a:lt1>
      <a:dk2>
        <a:srgbClr val="1F3864"/>
      </a:dk2>
      <a:lt2>
        <a:srgbClr val="E8F0F9"/>
      </a:lt2>
      <a:accent1>
        <a:srgbClr val="2E75B6"/>
      </a:accent1>
      <a:accent2>
        <a:srgbClr val="E8A33D"/>
      </a:accent2>
      <a:accent3>
        <a:srgbClr val="9DC3E6"/>
      </a:accent3>
      <a:accent4>
        <a:srgbClr val="2B4C7E"/>
      </a:accent4>
      <a:accent5>
        <a:srgbClr val="5F6B7A"/>
      </a:accent5>
      <a:accent6>
        <a:srgbClr val="2E8B6E"/>
      </a:accent6>
      <a:hlink>
        <a:srgbClr val="2E75B6"/>
      </a:hlink>
      <a:folHlink>
        <a:srgbClr val="5F6B7A"/>
      </a:folHlink>
    </a:clrScheme>
    <a:fontScheme name="Donor Analys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Donor Retention and Lapse Analysis</dc:title>
  <dc:subject>PptxGenJS Presentation</dc:subject>
  <dc:creator>Imane Khtib</dc:creator>
  <cp:lastModifiedBy>Imane Khtib</cp:lastModifiedBy>
  <cp:revision>1</cp:revision>
  <dcterms:created xsi:type="dcterms:W3CDTF">2026-10-15T19:42:44Z</dcterms:created>
  <dcterms:modified xsi:type="dcterms:W3CDTF">2026-10-15T19:42:44Z</dcterms:modified>
</cp:coreProperties>
</file>